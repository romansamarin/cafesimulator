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Средний стиль 3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03447BB-5D67-496B-8E87-E561075AD55C}" styleName="Темный стиль 1 — акцент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Темный стиль 2 — акцент 1/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3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5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55C7D1-ADBE-4DB7-BF32-7FB5911316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543C127-4A6B-47C2-A975-736AADF81F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41C06B-38CC-49E8-B070-5B1F0E7DF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3ADD39-812B-4A60-86A8-E335B0029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46E6D0-00E8-4BD0-888D-CF01967A0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3336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83304-1BFE-4959-A5A2-5D0CDF878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B8F802-6B76-4D49-A972-40B31B8A6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46E9CC-8979-4ADF-A712-10B6A2060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10D0E4-C680-42FF-9B4A-C12AFE3E9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B1A128-9E33-49FF-A3AD-AC0E4C20B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8233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21132B-C198-4C6D-B4DE-A7739537C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41C86C-CF53-4F25-B0E1-C0C992CD5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E3CEAF-45E1-430D-ACCB-26E593883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F2D2B0-6962-488A-AF16-4E3594B0C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4C613A-D693-4CF5-80BA-95EF2D6EF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9391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2CB2D2-B7DD-4712-9DAC-A074B8B91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5B0AA0-8CC5-4A5B-9092-37F2EB484F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7DD84C3-1951-4B3C-93B7-56C260482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313CCA4-2EA4-4C25-86F0-243F86E14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86056C1-9AEE-4C0B-8237-FAE06AD7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6FD43AC-00AD-4597-91C6-D27E2609A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031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49E2ED-001F-4D45-9102-B6FC9E749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60B233-97E0-4736-B0DB-3A7EB7006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1816D30-3AC0-4BD1-82B0-F8CF32C1D8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7AAD04-54AC-4EC9-94B1-51C9C100B8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1C75EF3-1CDE-4B01-9062-19932E99D8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1A9923C-DD93-4368-B31C-BF78DE51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DAE8663-4466-40FC-9A3D-81CACCAAB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471B90A-1F4F-4833-82E0-063759B79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31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4A770F-1D0F-41C0-9491-B8E4AE61B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617BA26-C02D-4B5E-A089-9B561B992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384C97B-EA43-4CEF-A968-20069E482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5934AA9-DA6C-44D6-A333-B1297AC81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6874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70B990B-CEE8-4556-A30B-4E371D888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0E5E36A-6DFC-44CA-B218-EE836F18E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9999BA-3CCB-494A-A114-7660640D3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0247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DA962F-CC98-4187-A674-F0AF320BC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5CD282-017B-4521-8480-CC39BA24B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89D8860-B8B8-4431-9C25-4AC451319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D36644D-7201-494B-9CDC-9D5F7A357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22DADD-83AB-44D1-BCE9-2438F7430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0BE79B4-93FB-4F4C-B23B-21CA9CBE7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9312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9FA665-181D-48DF-9C38-0FB5E28CA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27C1A4-9E13-4AA1-BEAD-8A3747C449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149439-B916-42D3-BD53-8748CF5F5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CE8FF7B-5B08-40C8-A290-1B0A0722B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5AC9541-DA87-444E-B249-99B31E642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995861D-749C-41F5-BF2E-19ED507D0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3416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ECB088-F04A-46CA-97E6-49E6FC4C1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2783660-9C42-4FEA-845D-D2A2FC721A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6F5206-081C-4558-958D-4897567A6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9A4B9D-E4AC-4660-A44A-E48A2A090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662DAA-1A75-46FE-8F42-7EC8B3F73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3585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C3B0359-1202-43F8-A7A8-DD21340E73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8E497DD-2FBF-49F0-ADA9-E88AF8DB6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81BAD8-8C3E-4CCE-BFF6-F82DE1F83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20893E-27E1-44D2-A947-5FDFDB095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AE8BDB-650C-4848-BE83-2D44A4EB9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158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9E121F-6669-4801-9276-737FD57F6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5C56439-CA43-455E-A1F4-7649C2589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1C0AA3-8922-41E7-830F-6699B57849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1BE5E-5333-4BD4-98F4-AC5F1DC5955D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2D6249-02C9-4718-B373-C818A53E66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E0D79F-B611-490D-BB96-B0F3368EE8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85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fi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3757551-1521-4293-8514-793956AECE06}"/>
              </a:ext>
            </a:extLst>
          </p:cNvPr>
          <p:cNvSpPr txBox="1"/>
          <p:nvPr/>
        </p:nvSpPr>
        <p:spPr>
          <a:xfrm>
            <a:off x="2651749" y="1788676"/>
            <a:ext cx="76295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 smtClean="0">
                <a:solidFill>
                  <a:schemeClr val="tx2">
                    <a:lumMod val="75000"/>
                  </a:schemeClr>
                </a:solidFill>
                <a:latin typeface="Montserrat SemiBold" panose="00000700000000000000" pitchFamily="2" charset="-52"/>
              </a:rPr>
              <a:t>Кафе симулятор</a:t>
            </a:r>
            <a:endParaRPr lang="ru-RU" sz="4000" dirty="0">
              <a:solidFill>
                <a:schemeClr val="tx2">
                  <a:lumMod val="75000"/>
                </a:schemeClr>
              </a:solidFill>
              <a:latin typeface="Montserrat SemiBold" panose="00000700000000000000" pitchFamily="2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DCDC27-8683-4A21-9AF4-B4640167A353}"/>
              </a:ext>
            </a:extLst>
          </p:cNvPr>
          <p:cNvSpPr txBox="1"/>
          <p:nvPr/>
        </p:nvSpPr>
        <p:spPr>
          <a:xfrm>
            <a:off x="6201278" y="27826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ru-RU" dirty="0">
              <a:solidFill>
                <a:schemeClr val="tx2">
                  <a:lumMod val="75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239546-B8CD-4665-8DF7-676D8779C723}"/>
              </a:ext>
            </a:extLst>
          </p:cNvPr>
          <p:cNvSpPr txBox="1"/>
          <p:nvPr/>
        </p:nvSpPr>
        <p:spPr>
          <a:xfrm>
            <a:off x="5513147" y="6329362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tx2">
                    <a:lumMod val="75000"/>
                  </a:schemeClr>
                </a:solidFill>
                <a:latin typeface="Montserrat Medium" panose="00000600000000000000" pitchFamily="2" charset="-52"/>
              </a:rPr>
              <a:t>2026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Montserrat Medium" panose="00000600000000000000" pitchFamily="2" charset="-52"/>
              </a:rPr>
              <a:t>год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F62410-A267-44D0-82BF-C94E6AC68F72}"/>
              </a:ext>
            </a:extLst>
          </p:cNvPr>
          <p:cNvSpPr txBox="1"/>
          <p:nvPr/>
        </p:nvSpPr>
        <p:spPr>
          <a:xfrm>
            <a:off x="9926636" y="5588634"/>
            <a:ext cx="2265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Montserrat Medium" panose="00000600000000000000" pitchFamily="2" charset="-52"/>
              </a:rPr>
              <a:t>-</a:t>
            </a:r>
            <a:r>
              <a:rPr lang="ru-RU" dirty="0" smtClean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-52"/>
              </a:rPr>
              <a:t>Самарин Кирилл</a:t>
            </a:r>
            <a:endParaRPr lang="ru-RU" dirty="0" smtClean="0">
              <a:solidFill>
                <a:schemeClr val="tx2">
                  <a:lumMod val="75000"/>
                </a:schemeClr>
              </a:solidFill>
              <a:latin typeface="Montserrat" panose="00000500000000000000" pitchFamily="2" charset="-52"/>
            </a:endParaRPr>
          </a:p>
          <a:p>
            <a:r>
              <a:rPr lang="ru-RU" dirty="0" smtClean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-52"/>
              </a:rPr>
              <a:t>-Самарин Роман</a:t>
            </a:r>
            <a:endParaRPr lang="ru-RU" dirty="0">
              <a:solidFill>
                <a:schemeClr val="tx2">
                  <a:lumMod val="75000"/>
                </a:schemeClr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728130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FEA7E-D50D-4033-9EEF-98A364DC9070}"/>
              </a:ext>
            </a:extLst>
          </p:cNvPr>
          <p:cNvSpPr txBox="1"/>
          <p:nvPr/>
        </p:nvSpPr>
        <p:spPr>
          <a:xfrm>
            <a:off x="5130799" y="256598"/>
            <a:ext cx="68739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tx2">
                    <a:lumMod val="50000"/>
                  </a:schemeClr>
                </a:solidFill>
                <a:latin typeface="Montserrat ExtraBold" panose="00000900000000000000" pitchFamily="2" charset="-52"/>
              </a:rPr>
              <a:t>Актуальность и суть проекта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8E9C7-CF5A-4487-969A-BFE8265439B4}"/>
              </a:ext>
            </a:extLst>
          </p:cNvPr>
          <p:cNvSpPr txBox="1"/>
          <p:nvPr/>
        </p:nvSpPr>
        <p:spPr>
          <a:xfrm>
            <a:off x="320059" y="2054877"/>
            <a:ext cx="114185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Он решает проблему перенасыщения тяжёлыми играми.</a:t>
            </a:r>
            <a:endParaRPr lang="ru-RU" sz="2000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-52"/>
            </a:endParaRPr>
          </a:p>
          <a:p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Его значимость велика так как игра имеет простые механики и каждому будет</a:t>
            </a: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п</a:t>
            </a:r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росто разобраться в них.</a:t>
            </a:r>
            <a:endParaRPr lang="ru-RU" sz="2000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225199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FEA7E-D50D-4033-9EEF-98A364DC9070}"/>
              </a:ext>
            </a:extLst>
          </p:cNvPr>
          <p:cNvSpPr txBox="1"/>
          <p:nvPr/>
        </p:nvSpPr>
        <p:spPr>
          <a:xfrm>
            <a:off x="6512137" y="256598"/>
            <a:ext cx="54409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tx2">
                    <a:lumMod val="50000"/>
                  </a:schemeClr>
                </a:solidFill>
                <a:latin typeface="Montserrat ExtraBold" panose="00000900000000000000" pitchFamily="2" charset="-52"/>
              </a:rPr>
              <a:t>Цель и задачи проекта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8E9C7-CF5A-4487-969A-BFE8265439B4}"/>
              </a:ext>
            </a:extLst>
          </p:cNvPr>
          <p:cNvSpPr txBox="1"/>
          <p:nvPr/>
        </p:nvSpPr>
        <p:spPr>
          <a:xfrm>
            <a:off x="320059" y="2054877"/>
            <a:ext cx="926407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Цель – </a:t>
            </a:r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создать игру: кафе симулятор на игровом движке 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unity</a:t>
            </a:r>
            <a:endParaRPr lang="ru-RU" sz="2000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-52"/>
            </a:endParaRP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Задач – </a:t>
            </a:r>
            <a:endParaRPr lang="en-US" sz="2000" dirty="0" smtClean="0">
              <a:solidFill>
                <a:schemeClr val="tx2">
                  <a:lumMod val="50000"/>
                </a:schemeClr>
              </a:solidFill>
              <a:latin typeface="Montserrat" panose="00000500000000000000" pitchFamily="2" charset="-52"/>
            </a:endParaRPr>
          </a:p>
          <a:p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1</a:t>
            </a:r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: Улучшить навыки работы в 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unity</a:t>
            </a:r>
          </a:p>
          <a:p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2</a:t>
            </a:r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: Улучшить навыки работы в 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blender</a:t>
            </a:r>
            <a:endParaRPr lang="ru-RU" sz="2000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365876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FEA7E-D50D-4033-9EEF-98A364DC9070}"/>
              </a:ext>
            </a:extLst>
          </p:cNvPr>
          <p:cNvSpPr txBox="1"/>
          <p:nvPr/>
        </p:nvSpPr>
        <p:spPr>
          <a:xfrm>
            <a:off x="4275833" y="256598"/>
            <a:ext cx="7726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tx2">
                    <a:lumMod val="50000"/>
                  </a:schemeClr>
                </a:solidFill>
                <a:latin typeface="Montserrat ExtraBold" panose="00000900000000000000" pitchFamily="2" charset="-52"/>
              </a:rPr>
              <a:t>Анализ существующих решений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1033" y="1151628"/>
            <a:ext cx="7120467" cy="4005263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3912502" y="5207831"/>
            <a:ext cx="51219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Montserrat ExtraBold" panose="00000900000000000000" pitchFamily="2" charset="-52"/>
              </a:rPr>
              <a:t>Restaurant Simulator</a:t>
            </a:r>
            <a:endParaRPr lang="ru-RU" sz="3200" dirty="0">
              <a:solidFill>
                <a:schemeClr val="tx2">
                  <a:lumMod val="50000"/>
                </a:schemeClr>
              </a:solidFill>
              <a:latin typeface="Montserrat ExtraBold" panose="000009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117454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FEA7E-D50D-4033-9EEF-98A364DC9070}"/>
              </a:ext>
            </a:extLst>
          </p:cNvPr>
          <p:cNvSpPr txBox="1"/>
          <p:nvPr/>
        </p:nvSpPr>
        <p:spPr>
          <a:xfrm>
            <a:off x="4275833" y="256598"/>
            <a:ext cx="7726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tx2">
                    <a:lumMod val="50000"/>
                  </a:schemeClr>
                </a:solidFill>
                <a:latin typeface="Montserrat ExtraBold" panose="00000900000000000000" pitchFamily="2" charset="-52"/>
              </a:rPr>
              <a:t>Анализ существующих решений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E629CF7F-0B7A-44E5-A836-C5D366C948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569506"/>
              </p:ext>
            </p:extLst>
          </p:nvPr>
        </p:nvGraphicFramePr>
        <p:xfrm>
          <a:off x="321366" y="1316013"/>
          <a:ext cx="11549268" cy="515022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887317">
                  <a:extLst>
                    <a:ext uri="{9D8B030D-6E8A-4147-A177-3AD203B41FA5}">
                      <a16:colId xmlns:a16="http://schemas.microsoft.com/office/drawing/2014/main" val="378163225"/>
                    </a:ext>
                  </a:extLst>
                </a:gridCol>
                <a:gridCol w="2887317">
                  <a:extLst>
                    <a:ext uri="{9D8B030D-6E8A-4147-A177-3AD203B41FA5}">
                      <a16:colId xmlns:a16="http://schemas.microsoft.com/office/drawing/2014/main" val="677063916"/>
                    </a:ext>
                  </a:extLst>
                </a:gridCol>
                <a:gridCol w="2887317">
                  <a:extLst>
                    <a:ext uri="{9D8B030D-6E8A-4147-A177-3AD203B41FA5}">
                      <a16:colId xmlns:a16="http://schemas.microsoft.com/office/drawing/2014/main" val="3058195800"/>
                    </a:ext>
                  </a:extLst>
                </a:gridCol>
                <a:gridCol w="2887317">
                  <a:extLst>
                    <a:ext uri="{9D8B030D-6E8A-4147-A177-3AD203B41FA5}">
                      <a16:colId xmlns:a16="http://schemas.microsoft.com/office/drawing/2014/main" val="1963992699"/>
                    </a:ext>
                  </a:extLst>
                </a:gridCol>
              </a:tblGrid>
              <a:tr h="635598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bg1"/>
                          </a:solidFill>
                          <a:latin typeface="Montserrat SemiBold" panose="00000700000000000000" pitchFamily="2" charset="-52"/>
                        </a:rPr>
                        <a:t>Параметр сравнения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smtClean="0">
                          <a:latin typeface="Montserrat SemiBold" panose="00000700000000000000" pitchFamily="2" charset="-52"/>
                        </a:rPr>
                        <a:t>Наша</a:t>
                      </a:r>
                      <a:r>
                        <a:rPr lang="ru-RU" sz="2000" baseline="0" dirty="0" smtClean="0">
                          <a:latin typeface="Montserrat SemiBold" panose="00000700000000000000" pitchFamily="2" charset="-52"/>
                        </a:rPr>
                        <a:t> игра</a:t>
                      </a:r>
                      <a:endParaRPr lang="ru-RU" sz="2000" dirty="0">
                        <a:latin typeface="Montserrat SemiBold" panose="000007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 smtClean="0">
                          <a:solidFill>
                            <a:schemeClr val="bg1"/>
                          </a:solidFill>
                          <a:latin typeface="Montserrat SemiBold" panose="00000700000000000000" pitchFamily="2" charset="-52"/>
                          <a:ea typeface="+mn-ea"/>
                          <a:cs typeface="+mn-cs"/>
                        </a:rPr>
                        <a:t>Restaurant Simulator</a:t>
                      </a:r>
                      <a:endParaRPr lang="ru-RU" sz="2000" b="1" kern="1200" dirty="0">
                        <a:solidFill>
                          <a:schemeClr val="bg1"/>
                        </a:solidFill>
                        <a:latin typeface="Montserrat SemiBold" panose="00000700000000000000" pitchFamily="2" charset="-52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000" dirty="0">
                        <a:latin typeface="Montserrat SemiBold" panose="000007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350599"/>
                  </a:ext>
                </a:extLst>
              </a:tr>
              <a:tr h="635598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ontserrat SemiBold" panose="00000700000000000000" pitchFamily="2" charset="-52"/>
                        </a:rPr>
                        <a:t>Время создания</a:t>
                      </a:r>
                      <a:endParaRPr lang="ru-RU" dirty="0">
                        <a:solidFill>
                          <a:schemeClr val="tx2">
                            <a:lumMod val="50000"/>
                          </a:schemeClr>
                        </a:solidFill>
                        <a:latin typeface="Montserrat SemiBold" panose="000007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Montserrat" panose="00000500000000000000" pitchFamily="2" charset="-52"/>
                        </a:rPr>
                        <a:t>1,5 месяца</a:t>
                      </a:r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Montserrat" panose="00000500000000000000" pitchFamily="2" charset="-52"/>
                        </a:rPr>
                        <a:t>От 2 до 4 лет</a:t>
                      </a:r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94819400"/>
                  </a:ext>
                </a:extLst>
              </a:tr>
              <a:tr h="635598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ontserrat SemiBold" panose="00000700000000000000" pitchFamily="2" charset="-52"/>
                        </a:rPr>
                        <a:t>Бюджет</a:t>
                      </a:r>
                      <a:endParaRPr lang="ru-RU" dirty="0">
                        <a:solidFill>
                          <a:schemeClr val="tx2">
                            <a:lumMod val="50000"/>
                          </a:schemeClr>
                        </a:solidFill>
                        <a:latin typeface="Montserrat SemiBold" panose="000007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Montserrat" panose="00000500000000000000" pitchFamily="2" charset="-52"/>
                        </a:rPr>
                        <a:t>0</a:t>
                      </a:r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Montserrat" panose="00000500000000000000" pitchFamily="2" charset="-52"/>
                        </a:rPr>
                        <a:t>Крупный</a:t>
                      </a:r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817295705"/>
                  </a:ext>
                </a:extLst>
              </a:tr>
              <a:tr h="635598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ontserrat SemiBold" panose="00000700000000000000" pitchFamily="2" charset="-52"/>
                        </a:rPr>
                        <a:t>Длительность</a:t>
                      </a:r>
                      <a:r>
                        <a:rPr lang="ru-RU" baseline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ontserrat SemiBold" panose="00000700000000000000" pitchFamily="2" charset="-52"/>
                        </a:rPr>
                        <a:t> сессии</a:t>
                      </a:r>
                      <a:endParaRPr lang="ru-RU" dirty="0">
                        <a:solidFill>
                          <a:schemeClr val="tx2">
                            <a:lumMod val="50000"/>
                          </a:schemeClr>
                        </a:solidFill>
                        <a:latin typeface="Montserrat SemiBold" panose="000007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latin typeface="Montserrat" panose="00000500000000000000" pitchFamily="2" charset="-52"/>
                        </a:rPr>
                        <a:t>Короткая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Montserrat" panose="00000500000000000000" pitchFamily="2" charset="-52"/>
                        </a:rPr>
                        <a:t>Длительная</a:t>
                      </a:r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766826931"/>
                  </a:ext>
                </a:extLst>
              </a:tr>
              <a:tr h="635598"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2">
                            <a:lumMod val="50000"/>
                          </a:schemeClr>
                        </a:solidFill>
                        <a:latin typeface="Montserrat SemiBold" panose="000007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915138400"/>
                  </a:ext>
                </a:extLst>
              </a:tr>
              <a:tr h="635598"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2">
                            <a:lumMod val="50000"/>
                          </a:schemeClr>
                        </a:solidFill>
                        <a:latin typeface="Montserrat SemiBold" panose="000007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388791193"/>
                  </a:ext>
                </a:extLst>
              </a:tr>
              <a:tr h="6355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>
                        <a:solidFill>
                          <a:schemeClr val="tx2">
                            <a:lumMod val="50000"/>
                          </a:schemeClr>
                        </a:solidFill>
                        <a:latin typeface="Montserrat SemiBold" panose="000007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223968273"/>
                  </a:ext>
                </a:extLst>
              </a:tr>
              <a:tr h="6355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>
                        <a:solidFill>
                          <a:schemeClr val="tx2">
                            <a:lumMod val="50000"/>
                          </a:schemeClr>
                        </a:solidFill>
                        <a:latin typeface="Montserrat SemiBold" panose="000007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74619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4100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FEA7E-D50D-4033-9EEF-98A364DC9070}"/>
              </a:ext>
            </a:extLst>
          </p:cNvPr>
          <p:cNvSpPr txBox="1"/>
          <p:nvPr/>
        </p:nvSpPr>
        <p:spPr>
          <a:xfrm>
            <a:off x="5001389" y="256598"/>
            <a:ext cx="69605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tx2">
                    <a:lumMod val="50000"/>
                  </a:schemeClr>
                </a:solidFill>
                <a:latin typeface="Montserrat ExtraBold" panose="00000900000000000000" pitchFamily="2" charset="-52"/>
              </a:rPr>
              <a:t>Потенциальные потребители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8E9C7-CF5A-4487-969A-BFE8265439B4}"/>
              </a:ext>
            </a:extLst>
          </p:cNvPr>
          <p:cNvSpPr txBox="1"/>
          <p:nvPr/>
        </p:nvSpPr>
        <p:spPr>
          <a:xfrm>
            <a:off x="320059" y="2054877"/>
            <a:ext cx="71096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Люди любого финансового положения и возраста.</a:t>
            </a:r>
            <a:endParaRPr lang="ru-RU" sz="2000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056030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FEA7E-D50D-4033-9EEF-98A364DC9070}"/>
              </a:ext>
            </a:extLst>
          </p:cNvPr>
          <p:cNvSpPr txBox="1"/>
          <p:nvPr/>
        </p:nvSpPr>
        <p:spPr>
          <a:xfrm>
            <a:off x="3679484" y="256598"/>
            <a:ext cx="8335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tx2">
                    <a:lumMod val="50000"/>
                  </a:schemeClr>
                </a:solidFill>
                <a:latin typeface="Montserrat ExtraBold" panose="00000900000000000000" pitchFamily="2" charset="-52"/>
              </a:rPr>
              <a:t>Описание достигнутого результата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422" y="1114946"/>
            <a:ext cx="9197734" cy="410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7548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111</Words>
  <Application>Microsoft Office PowerPoint</Application>
  <PresentationFormat>Широкоэкранный</PresentationFormat>
  <Paragraphs>31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Light</vt:lpstr>
      <vt:lpstr>Montserrat</vt:lpstr>
      <vt:lpstr>Montserrat ExtraBold</vt:lpstr>
      <vt:lpstr>Montserrat Medium</vt:lpstr>
      <vt:lpstr>Montserrat SemiBold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media krainova</dc:creator>
  <cp:lastModifiedBy>Александр</cp:lastModifiedBy>
  <cp:revision>13</cp:revision>
  <dcterms:created xsi:type="dcterms:W3CDTF">2021-09-23T07:51:35Z</dcterms:created>
  <dcterms:modified xsi:type="dcterms:W3CDTF">2026-05-20T14:56:59Z</dcterms:modified>
</cp:coreProperties>
</file>